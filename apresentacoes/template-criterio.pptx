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9" r:id="rId3"/>
    <p:sldId id="278" r:id="rId4"/>
    <p:sldId id="256" r:id="rId5"/>
    <p:sldId id="273" r:id="rId6"/>
    <p:sldId id="280" r:id="rId7"/>
    <p:sldId id="275" r:id="rId8"/>
    <p:sldId id="274" r:id="rId9"/>
    <p:sldId id="276" r:id="rId10"/>
    <p:sldId id="281" r:id="rId11"/>
    <p:sldId id="265" r:id="rId12"/>
    <p:sldId id="266" r:id="rId13"/>
    <p:sldId id="259" r:id="rId14"/>
    <p:sldId id="267" r:id="rId15"/>
    <p:sldId id="260" r:id="rId16"/>
    <p:sldId id="262" r:id="rId17"/>
    <p:sldId id="268" r:id="rId18"/>
    <p:sldId id="261" r:id="rId19"/>
    <p:sldId id="264" r:id="rId20"/>
    <p:sldId id="269" r:id="rId21"/>
    <p:sldId id="263" r:id="rId22"/>
    <p:sldId id="272" r:id="rId23"/>
    <p:sldId id="283" r:id="rId24"/>
    <p:sldId id="282" r:id="rId25"/>
    <p:sldId id="271" r:id="rId2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E3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94658"/>
  </p:normalViewPr>
  <p:slideViewPr>
    <p:cSldViewPr snapToGrid="0">
      <p:cViewPr varScale="1">
        <p:scale>
          <a:sx n="116" d="100"/>
          <a:sy n="116" d="100"/>
        </p:scale>
        <p:origin x="264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2D2378-76D7-0E10-0BEE-0DFC3F33C4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C679602-3B28-3446-851A-C7ADD6A7CD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773014D-D0F7-72AA-08A8-137FDC8CA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1F236-260D-4911-9F2E-E15EE1381967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623E98-7699-5FE8-1BE4-697657423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6F03A7-765D-FFC6-A212-9210B2A44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862A2-A230-4994-9045-E5D3BA30D3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6821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34F97E-CCE4-703B-71F5-8CE712258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017E49-32B7-2F08-3E3D-AE81E28A6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EB142E-7848-F7E5-0E59-9607E7978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1F236-260D-4911-9F2E-E15EE1381967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8A7810-B0C3-F739-E56D-63E48A423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299E79-88B2-610A-16E7-011A3F525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862A2-A230-4994-9045-E5D3BA30D3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3251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03FF24-58EF-C570-2261-8978F8533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FC03BF2-9132-998A-23F2-85BF18AEF4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33C9A7-5CAD-E557-D54D-1D5C132AA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1F236-260D-4911-9F2E-E15EE1381967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5BC8B5-FD20-B93A-6502-C533E37F3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4E984E0-421F-4DEE-5A05-A7CE23630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862A2-A230-4994-9045-E5D3BA30D3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2708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3AA608-9302-9B22-5102-566FD3D7F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CD0BA4-759E-6423-4179-00D62557A3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E076825-BEC7-3418-A9C4-49ED1A4AF5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02505B4-280C-06B6-CB5E-8B8FEC8BB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1F236-260D-4911-9F2E-E15EE1381967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18E21E7-1141-50F3-431A-B13500CB5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C9E6654-BEB9-28AB-E261-BE18B0206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862A2-A230-4994-9045-E5D3BA30D3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3647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7BDAD2-48EC-76CD-F1DE-9F4714385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C9572B-B13D-2055-DE38-961C7B06F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B06535F-C457-F3F0-395C-F3510C42F1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3CCDB0F-F160-3E30-FE01-BF0238BD8B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F66470D-1782-2AEA-0151-6AA860C5F9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BB67D74-5C78-2032-7C2F-0783E12E4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1F236-260D-4911-9F2E-E15EE1381967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903E5AA-4942-1395-1712-A6F755308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6305A18-98F9-B39B-91D3-170DD3D5F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862A2-A230-4994-9045-E5D3BA30D3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6763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625E9E-309B-F3AB-8EDF-7227E4567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BE2DA67-5EFC-243C-1C24-1C6DE09CD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1F236-260D-4911-9F2E-E15EE1381967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D8331C9-43F2-8B7F-AEAE-A7CDBF24E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EA8C9A4-0E2B-E2E6-FF97-FBFA05A01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862A2-A230-4994-9045-E5D3BA30D3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8509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C2C128F-B486-D621-FE09-A63C11822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1F236-260D-4911-9F2E-E15EE1381967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81DB6F5-5BCB-29DD-5C48-122872830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779509A-5111-7F51-8B36-95F3DA11B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862A2-A230-4994-9045-E5D3BA30D3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6505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EE4CC2-4A01-F51D-589D-6466B2C67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DDB233-4F8B-5E58-B6FA-ACB6DAB8F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472EBCD-BBE9-5A3B-67F7-513FF9FE1F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DBFA3C3-FB7C-62CA-8866-3F5083EB2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1F236-260D-4911-9F2E-E15EE1381967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45C2D66-73F2-6DEC-20D8-6E585D45E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04521D4-A731-51D8-C325-9225807F1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862A2-A230-4994-9045-E5D3BA30D3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3568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5DDD48-13D7-9BC9-C0B5-A48F702FA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700EBA0-BE0D-E353-F89E-FAA9110457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45D5A81-08D8-3555-70E1-9F5FD94510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765453A-6B67-13E2-379B-5DE37808D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1F236-260D-4911-9F2E-E15EE1381967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82CBCB-817F-13E8-CBD0-9DF3C37A8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1F59D3-655F-607D-31A8-9C6946CF7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862A2-A230-4994-9045-E5D3BA30D3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3066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CB9467-315D-CD5D-7EA4-9248FE61E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549EB22-4E44-688D-D499-355D2BA6A9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C1FC48-B00A-F3EA-1211-0CEC3CA23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1F236-260D-4911-9F2E-E15EE1381967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514782-FFE3-A87E-0420-42145D022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B1C06B0-DD01-EFC0-AB7A-D735C79FE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862A2-A230-4994-9045-E5D3BA30D3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434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123BAD3-BA07-CADC-A60B-3F52FEE843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4254848-00D8-2FB7-2CC2-60DE9A01D9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007F64-1143-79FB-AF0D-68D45AFE4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1F236-260D-4911-9F2E-E15EE1381967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FAE6D1-3926-68B3-4E9A-BF9090FAE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CA1BCCD-F0CF-31C7-05F1-8B0CD7C8B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862A2-A230-4994-9045-E5D3BA30D3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1536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419DE86-224B-E5E4-52E7-E7E4E5996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DF6A995-C31E-1257-F29B-266FA5F08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9D725D4-48E3-92AE-6286-1A41866FD2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91F236-260D-4911-9F2E-E15EE1381967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8EA141-C4D7-C25C-FDE7-E8DD6AB5DF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571636-BA39-67D1-484F-673B3D6EED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F862A2-A230-4994-9045-E5D3BA30D3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6966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m 4" descr="Logotipo, nome da empresa">
            <a:extLst>
              <a:ext uri="{FF2B5EF4-FFF2-40B4-BE49-F238E27FC236}">
                <a16:creationId xmlns:a16="http://schemas.microsoft.com/office/drawing/2014/main" id="{40F0C296-FE46-41FA-DDE1-BE6C3EB91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680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m 4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D384B3A6-3590-7166-3DC1-6D0D10C8D7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062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m 4" descr="Interface gráfica do usuário, Site">
            <a:extLst>
              <a:ext uri="{FF2B5EF4-FFF2-40B4-BE49-F238E27FC236}">
                <a16:creationId xmlns:a16="http://schemas.microsoft.com/office/drawing/2014/main" id="{EEFB0063-58E2-D53B-A42D-E187CBC29B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055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D8C54F74-3EEE-2DC6-BA59-F427656BF4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630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 descr="Interface gráfica do usuário, Logotipo&#10;&#10;O conteúdo gerado por IA pode estar incorreto.">
            <a:extLst>
              <a:ext uri="{FF2B5EF4-FFF2-40B4-BE49-F238E27FC236}">
                <a16:creationId xmlns:a16="http://schemas.microsoft.com/office/drawing/2014/main" id="{5209D672-868A-C9A9-7A34-B57CAE865C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310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m 4" descr="Interface gráfica do usuário, Padrão do plano de fundo&#10;&#10;O conteúdo gerado por IA pode estar incorreto.">
            <a:extLst>
              <a:ext uri="{FF2B5EF4-FFF2-40B4-BE49-F238E27FC236}">
                <a16:creationId xmlns:a16="http://schemas.microsoft.com/office/drawing/2014/main" id="{5069D8D7-A177-AA44-BCEB-6441B087A1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573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m 4" descr="Uma imagem contendo Padrão do plano de fundo">
            <a:extLst>
              <a:ext uri="{FF2B5EF4-FFF2-40B4-BE49-F238E27FC236}">
                <a16:creationId xmlns:a16="http://schemas.microsoft.com/office/drawing/2014/main" id="{8B68E227-C974-B96A-5DA7-D6CBAA2562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516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Espaço Reservado para Conteúdo 4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1D87A761-BB86-199B-5156-5D0A51C4C8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822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Espaço Reservado para Conteúdo 4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1B33CEC1-B5FB-3850-A134-113773C2BC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649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m 4" descr="Padrão do plano de fundo">
            <a:extLst>
              <a:ext uri="{FF2B5EF4-FFF2-40B4-BE49-F238E27FC236}">
                <a16:creationId xmlns:a16="http://schemas.microsoft.com/office/drawing/2014/main" id="{7371CBB0-1AB0-3FEC-215D-25C9280F63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831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Espaço Reservado para Conteúdo 4" descr="Uma imagem contendo Texto&#10;&#10;O conteúdo gerado por IA pode estar incorreto.">
            <a:extLst>
              <a:ext uri="{FF2B5EF4-FFF2-40B4-BE49-F238E27FC236}">
                <a16:creationId xmlns:a16="http://schemas.microsoft.com/office/drawing/2014/main" id="{29A71FEA-9C43-A5D6-C76E-28A8855A1D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753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BBEACEB6-B037-EF65-33FB-344F34E4F0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7320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57790-A29F-C336-DE33-61AD64EC4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Uma imagem contendo Texto">
            <a:extLst>
              <a:ext uri="{FF2B5EF4-FFF2-40B4-BE49-F238E27FC236}">
                <a16:creationId xmlns:a16="http://schemas.microsoft.com/office/drawing/2014/main" id="{C5FC60D2-F645-62E1-C973-74F8CC2066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10" name="Imagem 9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AF961964-38E2-81F4-FFFB-18E373A5CA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56286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15342BF9-622E-7FE9-91F3-BA1198C21B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EE00E7DC-A626-1432-9324-3CC99893E199}"/>
              </a:ext>
            </a:extLst>
          </p:cNvPr>
          <p:cNvSpPr txBox="1"/>
          <p:nvPr/>
        </p:nvSpPr>
        <p:spPr>
          <a:xfrm>
            <a:off x="9099695" y="6400301"/>
            <a:ext cx="522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Delight Regular" pitchFamily="50" charset="0"/>
              </a:rPr>
              <a:t>02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DF76E52-F41B-6C28-887A-50C3D6AE9AA2}"/>
              </a:ext>
            </a:extLst>
          </p:cNvPr>
          <p:cNvSpPr txBox="1"/>
          <p:nvPr/>
        </p:nvSpPr>
        <p:spPr>
          <a:xfrm>
            <a:off x="326572" y="3058885"/>
            <a:ext cx="598714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>
                <a:solidFill>
                  <a:schemeClr val="bg1"/>
                </a:solidFill>
                <a:latin typeface="Delight SemBd" pitchFamily="50" charset="0"/>
              </a:rPr>
              <a:t>Minha empresa</a:t>
            </a:r>
            <a:br>
              <a:rPr lang="pt-BR" sz="5400" dirty="0">
                <a:solidFill>
                  <a:schemeClr val="bg1"/>
                </a:solidFill>
                <a:latin typeface="Delight SemBd" pitchFamily="50" charset="0"/>
              </a:rPr>
            </a:br>
            <a:r>
              <a:rPr lang="pt-BR" sz="5400" dirty="0">
                <a:solidFill>
                  <a:schemeClr val="bg1"/>
                </a:solidFill>
                <a:latin typeface="Delight SemBd" pitchFamily="50" charset="0"/>
              </a:rPr>
              <a:t>está pronta para </a:t>
            </a:r>
            <a:br>
              <a:rPr lang="pt-BR" sz="5400" dirty="0">
                <a:solidFill>
                  <a:schemeClr val="bg1"/>
                </a:solidFill>
                <a:latin typeface="Delight SemBd" pitchFamily="50" charset="0"/>
              </a:rPr>
            </a:br>
            <a:r>
              <a:rPr lang="pt-BR" sz="5400" dirty="0">
                <a:solidFill>
                  <a:schemeClr val="bg1"/>
                </a:solidFill>
                <a:latin typeface="Delight SemBd" pitchFamily="50" charset="0"/>
              </a:rPr>
              <a:t>o próximo passo?</a:t>
            </a:r>
          </a:p>
        </p:txBody>
      </p:sp>
    </p:spTree>
    <p:extLst>
      <p:ext uri="{BB962C8B-B14F-4D97-AF65-F5344CB8AC3E}">
        <p14:creationId xmlns:p14="http://schemas.microsoft.com/office/powerpoint/2010/main" val="14463996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Espaço Reservado para Conteúdo 4" descr="Uma imagem contendo Padrão do plano de fundo&#10;&#10;O conteúdo gerado por IA pode estar incorreto.">
            <a:extLst>
              <a:ext uri="{FF2B5EF4-FFF2-40B4-BE49-F238E27FC236}">
                <a16:creationId xmlns:a16="http://schemas.microsoft.com/office/drawing/2014/main" id="{A44F2B28-6D0A-97C8-799B-D6C2BBA5F4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6051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m 4" descr="Uma imagem contendo Padrão do plano de fundo&#10;&#10;O conteúdo gerado por IA pode estar incorreto.">
            <a:extLst>
              <a:ext uri="{FF2B5EF4-FFF2-40B4-BE49-F238E27FC236}">
                <a16:creationId xmlns:a16="http://schemas.microsoft.com/office/drawing/2014/main" id="{B51A54D1-C4EE-0F48-0793-AADCEC869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7124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56E1E-02D0-5C56-1BD7-F4C6C6B2A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ntendo Padrão do plano de fundo&#10;&#10;O conteúdo gerado por IA pode estar incorreto.">
            <a:extLst>
              <a:ext uri="{FF2B5EF4-FFF2-40B4-BE49-F238E27FC236}">
                <a16:creationId xmlns:a16="http://schemas.microsoft.com/office/drawing/2014/main" id="{2F846B06-A92E-9F66-662E-F2D6856A11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2E80AC24-2B2E-54C0-8D9B-1C1F882D8435}"/>
              </a:ext>
            </a:extLst>
          </p:cNvPr>
          <p:cNvSpPr txBox="1"/>
          <p:nvPr/>
        </p:nvSpPr>
        <p:spPr>
          <a:xfrm>
            <a:off x="304799" y="402772"/>
            <a:ext cx="422365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latin typeface="Delight SemBd" pitchFamily="50" charset="0"/>
              </a:rPr>
              <a:t>A expansão do nosso mercado a cada trimestre de 2025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C72C364-44C3-079C-7DD6-52E2DE658DAB}"/>
              </a:ext>
            </a:extLst>
          </p:cNvPr>
          <p:cNvSpPr txBox="1"/>
          <p:nvPr/>
        </p:nvSpPr>
        <p:spPr>
          <a:xfrm>
            <a:off x="9099695" y="6400301"/>
            <a:ext cx="522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Delight Regular" pitchFamily="50" charset="0"/>
              </a:rPr>
              <a:t>04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EF5EA31A-C671-8163-2E40-81CB533D6B57}"/>
              </a:ext>
            </a:extLst>
          </p:cNvPr>
          <p:cNvCxnSpPr/>
          <p:nvPr/>
        </p:nvCxnSpPr>
        <p:spPr>
          <a:xfrm>
            <a:off x="6030688" y="566056"/>
            <a:ext cx="0" cy="557348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tângulo 3">
            <a:extLst>
              <a:ext uri="{FF2B5EF4-FFF2-40B4-BE49-F238E27FC236}">
                <a16:creationId xmlns:a16="http://schemas.microsoft.com/office/drawing/2014/main" id="{DDC0F354-A882-D4A3-C207-07233FAF14D5}"/>
              </a:ext>
            </a:extLst>
          </p:cNvPr>
          <p:cNvSpPr/>
          <p:nvPr/>
        </p:nvSpPr>
        <p:spPr>
          <a:xfrm>
            <a:off x="10439418" y="2710543"/>
            <a:ext cx="1404239" cy="3429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85FE4CE-3210-1200-315D-57C1B6333327}"/>
              </a:ext>
            </a:extLst>
          </p:cNvPr>
          <p:cNvSpPr/>
          <p:nvPr/>
        </p:nvSpPr>
        <p:spPr>
          <a:xfrm>
            <a:off x="8996291" y="3429000"/>
            <a:ext cx="1404239" cy="2710543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B38EDC36-26B5-64F8-9428-56EDB25110F2}"/>
              </a:ext>
            </a:extLst>
          </p:cNvPr>
          <p:cNvSpPr/>
          <p:nvPr/>
        </p:nvSpPr>
        <p:spPr>
          <a:xfrm>
            <a:off x="7542278" y="4876800"/>
            <a:ext cx="1404239" cy="1262743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1F7DEA21-834D-C8D7-3894-008932892D21}"/>
              </a:ext>
            </a:extLst>
          </p:cNvPr>
          <p:cNvSpPr/>
          <p:nvPr/>
        </p:nvSpPr>
        <p:spPr>
          <a:xfrm>
            <a:off x="6088265" y="5040086"/>
            <a:ext cx="1404239" cy="1099456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58EDC7BE-0850-B98A-D3C1-4F0660FBDD37}"/>
              </a:ext>
            </a:extLst>
          </p:cNvPr>
          <p:cNvSpPr txBox="1"/>
          <p:nvPr/>
        </p:nvSpPr>
        <p:spPr>
          <a:xfrm>
            <a:off x="6400798" y="468475"/>
            <a:ext cx="838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  <a:latin typeface="Delight SemBd" pitchFamily="50" charset="0"/>
              </a:rPr>
              <a:t>R$ XX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074405F5-9B34-9EBE-1AC2-0F9DCAE4CA43}"/>
              </a:ext>
            </a:extLst>
          </p:cNvPr>
          <p:cNvSpPr txBox="1"/>
          <p:nvPr/>
        </p:nvSpPr>
        <p:spPr>
          <a:xfrm>
            <a:off x="7837722" y="468475"/>
            <a:ext cx="838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  <a:latin typeface="Delight SemBd" pitchFamily="50" charset="0"/>
              </a:rPr>
              <a:t>R$ XX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9B6E3E7F-1DBC-02D6-3F88-7E0AC916518E}"/>
              </a:ext>
            </a:extLst>
          </p:cNvPr>
          <p:cNvSpPr txBox="1"/>
          <p:nvPr/>
        </p:nvSpPr>
        <p:spPr>
          <a:xfrm>
            <a:off x="9285538" y="468475"/>
            <a:ext cx="838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  <a:latin typeface="Delight SemBd" pitchFamily="50" charset="0"/>
              </a:rPr>
              <a:t>R$ XX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75A1511A-8178-396E-78FC-291CCE80F108}"/>
              </a:ext>
            </a:extLst>
          </p:cNvPr>
          <p:cNvSpPr txBox="1"/>
          <p:nvPr/>
        </p:nvSpPr>
        <p:spPr>
          <a:xfrm>
            <a:off x="10722437" y="468475"/>
            <a:ext cx="838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  <a:latin typeface="Delight SemBd" pitchFamily="50" charset="0"/>
              </a:rPr>
              <a:t>R$ XX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E2D344FA-FC0E-B6CA-F786-D1A8F65B5D4A}"/>
              </a:ext>
            </a:extLst>
          </p:cNvPr>
          <p:cNvSpPr txBox="1"/>
          <p:nvPr/>
        </p:nvSpPr>
        <p:spPr>
          <a:xfrm>
            <a:off x="304799" y="2706468"/>
            <a:ext cx="42236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Delight Regular" pitchFamily="50" charset="0"/>
              </a:rPr>
              <a:t>A partir do contrato com o cliente X,</a:t>
            </a:r>
            <a:br>
              <a:rPr lang="pt-BR" dirty="0">
                <a:latin typeface="Delight Regular" pitchFamily="50" charset="0"/>
              </a:rPr>
            </a:br>
            <a:r>
              <a:rPr lang="pt-BR" dirty="0">
                <a:latin typeface="Delight Regular" pitchFamily="50" charset="0"/>
              </a:rPr>
              <a:t>em julho, o produto de consultoria recebeu X% de crescimento.</a:t>
            </a:r>
          </a:p>
        </p:txBody>
      </p:sp>
    </p:spTree>
    <p:extLst>
      <p:ext uri="{BB962C8B-B14F-4D97-AF65-F5344CB8AC3E}">
        <p14:creationId xmlns:p14="http://schemas.microsoft.com/office/powerpoint/2010/main" val="41854812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Espaço Reservado para Conteúdo 4" descr="Fundo preto com letras brancas&#10;&#10;O conteúdo gerado por IA pode estar incorreto.">
            <a:extLst>
              <a:ext uri="{FF2B5EF4-FFF2-40B4-BE49-F238E27FC236}">
                <a16:creationId xmlns:a16="http://schemas.microsoft.com/office/drawing/2014/main" id="{4D599776-18BF-D433-402A-F631D8A6A5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6610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m 4" descr="Fundo preto com letras brancas&#10;&#10;O conteúdo gerado por IA pode estar incorreto.">
            <a:extLst>
              <a:ext uri="{FF2B5EF4-FFF2-40B4-BE49-F238E27FC236}">
                <a16:creationId xmlns:a16="http://schemas.microsoft.com/office/drawing/2014/main" id="{CABE0DB3-D2E0-463F-89C1-AB3E5B0FC7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936E6E7-64B8-3EA3-15F4-AA3C9E18552B}"/>
              </a:ext>
            </a:extLst>
          </p:cNvPr>
          <p:cNvSpPr txBox="1"/>
          <p:nvPr/>
        </p:nvSpPr>
        <p:spPr>
          <a:xfrm>
            <a:off x="304799" y="402772"/>
            <a:ext cx="422365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rgbClr val="CAE3F7"/>
                </a:solidFill>
                <a:latin typeface="Delight SemBd" pitchFamily="50" charset="0"/>
              </a:rPr>
              <a:t>Projeção validada </a:t>
            </a:r>
            <a:br>
              <a:rPr lang="pt-BR" sz="3200" dirty="0">
                <a:solidFill>
                  <a:srgbClr val="CAE3F7"/>
                </a:solidFill>
                <a:latin typeface="Delight SemBd" pitchFamily="50" charset="0"/>
              </a:rPr>
            </a:br>
            <a:r>
              <a:rPr lang="pt-BR" sz="3200" dirty="0">
                <a:solidFill>
                  <a:srgbClr val="CAE3F7"/>
                </a:solidFill>
                <a:latin typeface="Delight SemBd" pitchFamily="50" charset="0"/>
              </a:rPr>
              <a:t>para os produtos</a:t>
            </a:r>
            <a:br>
              <a:rPr lang="pt-BR" sz="3200" dirty="0">
                <a:solidFill>
                  <a:srgbClr val="CAE3F7"/>
                </a:solidFill>
                <a:latin typeface="Delight SemBd" pitchFamily="50" charset="0"/>
              </a:rPr>
            </a:br>
            <a:r>
              <a:rPr lang="pt-BR" sz="3200" dirty="0">
                <a:solidFill>
                  <a:srgbClr val="CAE3F7"/>
                </a:solidFill>
                <a:latin typeface="Delight SemBd" pitchFamily="50" charset="0"/>
              </a:rPr>
              <a:t>no terceiro e quarto</a:t>
            </a:r>
            <a:br>
              <a:rPr lang="pt-BR" sz="3200" dirty="0">
                <a:solidFill>
                  <a:srgbClr val="CAE3F7"/>
                </a:solidFill>
                <a:latin typeface="Delight SemBd" pitchFamily="50" charset="0"/>
              </a:rPr>
            </a:br>
            <a:r>
              <a:rPr lang="pt-BR" sz="3200" dirty="0">
                <a:solidFill>
                  <a:srgbClr val="CAE3F7"/>
                </a:solidFill>
                <a:latin typeface="Delight SemBd" pitchFamily="50" charset="0"/>
              </a:rPr>
              <a:t>trimestre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A1BB19E-5642-9E10-0E2C-4704C320DC7D}"/>
              </a:ext>
            </a:extLst>
          </p:cNvPr>
          <p:cNvSpPr txBox="1"/>
          <p:nvPr/>
        </p:nvSpPr>
        <p:spPr>
          <a:xfrm>
            <a:off x="6008914" y="457200"/>
            <a:ext cx="11647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 err="1">
                <a:solidFill>
                  <a:srgbClr val="CAE3F7"/>
                </a:solidFill>
                <a:latin typeface="Delight Light" pitchFamily="50" charset="0"/>
              </a:rPr>
              <a:t>Revenue</a:t>
            </a:r>
            <a:endParaRPr lang="pt-BR" sz="3200" dirty="0">
              <a:solidFill>
                <a:srgbClr val="CAE3F7"/>
              </a:solidFill>
              <a:latin typeface="Delight Light" pitchFamily="50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5BF7F92-1BCF-FC13-B6E0-4B6016299DD1}"/>
              </a:ext>
            </a:extLst>
          </p:cNvPr>
          <p:cNvSpPr txBox="1"/>
          <p:nvPr/>
        </p:nvSpPr>
        <p:spPr>
          <a:xfrm>
            <a:off x="7924801" y="325827"/>
            <a:ext cx="410391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CAE3F7"/>
                </a:solidFill>
                <a:latin typeface="Delight SemBd" pitchFamily="50" charset="0"/>
              </a:rPr>
              <a:t>R$ 500mi</a:t>
            </a: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983C15ED-57B2-CB5A-1662-1BA6A196C438}"/>
              </a:ext>
            </a:extLst>
          </p:cNvPr>
          <p:cNvCxnSpPr/>
          <p:nvPr/>
        </p:nvCxnSpPr>
        <p:spPr>
          <a:xfrm>
            <a:off x="6096000" y="1433823"/>
            <a:ext cx="5758543" cy="0"/>
          </a:xfrm>
          <a:prstGeom prst="line">
            <a:avLst/>
          </a:prstGeom>
          <a:ln>
            <a:solidFill>
              <a:srgbClr val="CAE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2196037-39FB-D2A6-E294-F71010E4276A}"/>
              </a:ext>
            </a:extLst>
          </p:cNvPr>
          <p:cNvSpPr txBox="1"/>
          <p:nvPr/>
        </p:nvSpPr>
        <p:spPr>
          <a:xfrm>
            <a:off x="6008914" y="1654628"/>
            <a:ext cx="11647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 err="1">
                <a:solidFill>
                  <a:srgbClr val="CAE3F7"/>
                </a:solidFill>
                <a:latin typeface="Delight Light" pitchFamily="50" charset="0"/>
              </a:rPr>
              <a:t>Expense</a:t>
            </a:r>
            <a:endParaRPr lang="pt-BR" sz="3200" dirty="0">
              <a:solidFill>
                <a:srgbClr val="CAE3F7"/>
              </a:solidFill>
              <a:latin typeface="Delight Light" pitchFamily="50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8A9C1E1-3ADE-E628-D020-60B3F803E992}"/>
              </a:ext>
            </a:extLst>
          </p:cNvPr>
          <p:cNvSpPr txBox="1"/>
          <p:nvPr/>
        </p:nvSpPr>
        <p:spPr>
          <a:xfrm>
            <a:off x="9916885" y="1523255"/>
            <a:ext cx="211182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CAE3F7"/>
                </a:solidFill>
                <a:latin typeface="Delight SemBd" pitchFamily="50" charset="0"/>
              </a:rPr>
              <a:t>68%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DF292037-1295-6617-192E-7B4BB4F9F271}"/>
              </a:ext>
            </a:extLst>
          </p:cNvPr>
          <p:cNvCxnSpPr/>
          <p:nvPr/>
        </p:nvCxnSpPr>
        <p:spPr>
          <a:xfrm>
            <a:off x="6096000" y="2631251"/>
            <a:ext cx="5758543" cy="0"/>
          </a:xfrm>
          <a:prstGeom prst="line">
            <a:avLst/>
          </a:prstGeom>
          <a:ln>
            <a:solidFill>
              <a:srgbClr val="CAE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936EB05-614E-13EB-A396-2401BF2F913C}"/>
              </a:ext>
            </a:extLst>
          </p:cNvPr>
          <p:cNvSpPr txBox="1"/>
          <p:nvPr/>
        </p:nvSpPr>
        <p:spPr>
          <a:xfrm>
            <a:off x="6008914" y="2858831"/>
            <a:ext cx="11647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rgbClr val="CAE3F7"/>
                </a:solidFill>
                <a:latin typeface="Delight Light" pitchFamily="50" charset="0"/>
              </a:rPr>
              <a:t>Profit</a:t>
            </a:r>
            <a:endParaRPr lang="pt-BR" sz="3200" dirty="0">
              <a:solidFill>
                <a:srgbClr val="CAE3F7"/>
              </a:solidFill>
              <a:latin typeface="Delight Light" pitchFamily="50" charset="0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2C643CC-AD67-00B0-32B2-24DDB9E2BB0F}"/>
              </a:ext>
            </a:extLst>
          </p:cNvPr>
          <p:cNvSpPr txBox="1"/>
          <p:nvPr/>
        </p:nvSpPr>
        <p:spPr>
          <a:xfrm>
            <a:off x="7739743" y="2727458"/>
            <a:ext cx="428897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CAE3F7"/>
                </a:solidFill>
                <a:latin typeface="Delight SemBd" pitchFamily="50" charset="0"/>
              </a:rPr>
              <a:t>R$ 300mil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BE6F2781-0B72-FFD9-4B57-6E98E1B4D71F}"/>
              </a:ext>
            </a:extLst>
          </p:cNvPr>
          <p:cNvCxnSpPr/>
          <p:nvPr/>
        </p:nvCxnSpPr>
        <p:spPr>
          <a:xfrm>
            <a:off x="6096000" y="3835454"/>
            <a:ext cx="5758543" cy="0"/>
          </a:xfrm>
          <a:prstGeom prst="line">
            <a:avLst/>
          </a:prstGeom>
          <a:ln>
            <a:solidFill>
              <a:srgbClr val="CAE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C2E79A2-4873-FD0F-7F2C-D8A364CAAD50}"/>
              </a:ext>
            </a:extLst>
          </p:cNvPr>
          <p:cNvSpPr txBox="1"/>
          <p:nvPr/>
        </p:nvSpPr>
        <p:spPr>
          <a:xfrm>
            <a:off x="6008914" y="4037150"/>
            <a:ext cx="11647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 err="1">
                <a:solidFill>
                  <a:srgbClr val="CAE3F7"/>
                </a:solidFill>
                <a:latin typeface="Delight Light" pitchFamily="50" charset="0"/>
              </a:rPr>
              <a:t>Loss</a:t>
            </a:r>
            <a:endParaRPr lang="pt-BR" sz="3200" dirty="0">
              <a:solidFill>
                <a:srgbClr val="CAE3F7"/>
              </a:solidFill>
              <a:latin typeface="Delight Light" pitchFamily="50" charset="0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D3BF7AB9-C33C-B65E-18CE-A1E5C666CD2E}"/>
              </a:ext>
            </a:extLst>
          </p:cNvPr>
          <p:cNvSpPr txBox="1"/>
          <p:nvPr/>
        </p:nvSpPr>
        <p:spPr>
          <a:xfrm>
            <a:off x="8316686" y="3905777"/>
            <a:ext cx="371202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CAE3F7"/>
                </a:solidFill>
                <a:latin typeface="Delight SemBd" pitchFamily="50" charset="0"/>
              </a:rPr>
              <a:t>R$ 96mil</a:t>
            </a:r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C695FE2C-EF0B-6E73-3F08-7DFB2D962C94}"/>
              </a:ext>
            </a:extLst>
          </p:cNvPr>
          <p:cNvCxnSpPr/>
          <p:nvPr/>
        </p:nvCxnSpPr>
        <p:spPr>
          <a:xfrm>
            <a:off x="6096000" y="5013773"/>
            <a:ext cx="5758543" cy="0"/>
          </a:xfrm>
          <a:prstGeom prst="line">
            <a:avLst/>
          </a:prstGeom>
          <a:ln>
            <a:solidFill>
              <a:srgbClr val="CAE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7895B131-A85B-28B7-A7FF-20E0338ECE17}"/>
              </a:ext>
            </a:extLst>
          </p:cNvPr>
          <p:cNvSpPr txBox="1"/>
          <p:nvPr/>
        </p:nvSpPr>
        <p:spPr>
          <a:xfrm>
            <a:off x="9099695" y="6400301"/>
            <a:ext cx="522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CAE3F7"/>
                </a:solidFill>
                <a:latin typeface="Delight Regular" pitchFamily="50" charset="0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015842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39588-0224-EB94-E633-C419A8851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ntendo Padrão do plano de fundo&#10;&#10;O conteúdo gerado por IA pode estar incorreto.">
            <a:extLst>
              <a:ext uri="{FF2B5EF4-FFF2-40B4-BE49-F238E27FC236}">
                <a16:creationId xmlns:a16="http://schemas.microsoft.com/office/drawing/2014/main" id="{EF279E2E-7720-20A7-2792-06D8D1EC5B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9EE3C62-E3E4-B6E2-ADB4-BA4C289F743C}"/>
              </a:ext>
            </a:extLst>
          </p:cNvPr>
          <p:cNvSpPr txBox="1"/>
          <p:nvPr/>
        </p:nvSpPr>
        <p:spPr>
          <a:xfrm>
            <a:off x="304799" y="402772"/>
            <a:ext cx="724988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latin typeface="Delight SemBd" pitchFamily="50" charset="0"/>
              </a:rPr>
              <a:t>Nossos resultados são um reflexo da</a:t>
            </a:r>
            <a:br>
              <a:rPr lang="pt-BR" sz="3200" dirty="0">
                <a:latin typeface="Delight SemBd" pitchFamily="50" charset="0"/>
              </a:rPr>
            </a:br>
            <a:r>
              <a:rPr lang="pt-BR" sz="3200" dirty="0">
                <a:latin typeface="Delight SemBd" pitchFamily="50" charset="0"/>
              </a:rPr>
              <a:t>adoção dos novos processos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76289A3-35DA-C888-4AC2-BB66035DDF1B}"/>
              </a:ext>
            </a:extLst>
          </p:cNvPr>
          <p:cNvSpPr txBox="1"/>
          <p:nvPr/>
        </p:nvSpPr>
        <p:spPr>
          <a:xfrm>
            <a:off x="9088809" y="6411187"/>
            <a:ext cx="522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Delight Regular" pitchFamily="50" charset="0"/>
              </a:rPr>
              <a:t>06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EA0232D-1EC1-1923-1C08-FDE8956AEA8E}"/>
              </a:ext>
            </a:extLst>
          </p:cNvPr>
          <p:cNvSpPr txBox="1"/>
          <p:nvPr/>
        </p:nvSpPr>
        <p:spPr>
          <a:xfrm>
            <a:off x="304799" y="1881480"/>
            <a:ext cx="54646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Delight Regular" pitchFamily="50" charset="0"/>
              </a:rPr>
              <a:t>O crescimento encontrado foi diretamente ligado</a:t>
            </a:r>
            <a:br>
              <a:rPr lang="pt-BR" dirty="0">
                <a:latin typeface="Delight Regular" pitchFamily="50" charset="0"/>
              </a:rPr>
            </a:br>
            <a:r>
              <a:rPr lang="pt-BR" dirty="0">
                <a:latin typeface="Delight Regular" pitchFamily="50" charset="0"/>
              </a:rPr>
              <a:t>a contratação do serviço terceirizado de automação e novos consultores sênior 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931BBA1-769F-59E7-1098-102A7E282DEB}"/>
              </a:ext>
            </a:extLst>
          </p:cNvPr>
          <p:cNvSpPr txBox="1"/>
          <p:nvPr/>
        </p:nvSpPr>
        <p:spPr>
          <a:xfrm>
            <a:off x="304799" y="3900910"/>
            <a:ext cx="17090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dirty="0">
                <a:latin typeface="Delight SemBd" pitchFamily="50" charset="0"/>
              </a:rPr>
              <a:t>80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C1F7152-DE83-4B73-6BEB-4F0FEAAD5C36}"/>
              </a:ext>
            </a:extLst>
          </p:cNvPr>
          <p:cNvSpPr txBox="1"/>
          <p:nvPr/>
        </p:nvSpPr>
        <p:spPr>
          <a:xfrm>
            <a:off x="1660071" y="4357754"/>
            <a:ext cx="7075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Delight Regular" pitchFamily="50" charset="0"/>
              </a:rPr>
              <a:t>%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76EE7AC-CA13-03C9-7B1F-C66E73059396}"/>
              </a:ext>
            </a:extLst>
          </p:cNvPr>
          <p:cNvSpPr txBox="1"/>
          <p:nvPr/>
        </p:nvSpPr>
        <p:spPr>
          <a:xfrm>
            <a:off x="3211285" y="3900910"/>
            <a:ext cx="17090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dirty="0">
                <a:latin typeface="Delight SemBd" pitchFamily="50" charset="0"/>
              </a:rPr>
              <a:t>50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32FE452-611D-2302-E6CF-6BAB08D1F9C9}"/>
              </a:ext>
            </a:extLst>
          </p:cNvPr>
          <p:cNvSpPr txBox="1"/>
          <p:nvPr/>
        </p:nvSpPr>
        <p:spPr>
          <a:xfrm>
            <a:off x="4566557" y="4357754"/>
            <a:ext cx="7075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Delight Regular" pitchFamily="50" charset="0"/>
              </a:rPr>
              <a:t>%</a:t>
            </a: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AD5ABD40-0CB5-543E-6601-7E229095F938}"/>
              </a:ext>
            </a:extLst>
          </p:cNvPr>
          <p:cNvCxnSpPr/>
          <p:nvPr/>
        </p:nvCxnSpPr>
        <p:spPr>
          <a:xfrm>
            <a:off x="435429" y="5224349"/>
            <a:ext cx="20465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5013C5D8-226E-9A2A-4FF9-3BEAAB4CB6EF}"/>
              </a:ext>
            </a:extLst>
          </p:cNvPr>
          <p:cNvCxnSpPr/>
          <p:nvPr/>
        </p:nvCxnSpPr>
        <p:spPr>
          <a:xfrm>
            <a:off x="3347360" y="5201783"/>
            <a:ext cx="20465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AE5859C-E64A-1E65-2DDF-1E1A687C798C}"/>
              </a:ext>
            </a:extLst>
          </p:cNvPr>
          <p:cNvSpPr txBox="1"/>
          <p:nvPr/>
        </p:nvSpPr>
        <p:spPr>
          <a:xfrm>
            <a:off x="337457" y="5265694"/>
            <a:ext cx="28738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Delight Regular" pitchFamily="50" charset="0"/>
              </a:rPr>
              <a:t>Impacto direto na triagem de</a:t>
            </a:r>
            <a:br>
              <a:rPr lang="pt-BR" sz="1200" dirty="0">
                <a:latin typeface="Delight Regular" pitchFamily="50" charset="0"/>
              </a:rPr>
            </a:br>
            <a:r>
              <a:rPr lang="pt-BR" sz="1200" dirty="0">
                <a:latin typeface="Delight Regular" pitchFamily="50" charset="0"/>
              </a:rPr>
              <a:t>leads qualificados através</a:t>
            </a:r>
            <a:br>
              <a:rPr lang="pt-BR" sz="1200" dirty="0">
                <a:latin typeface="Delight Regular" pitchFamily="50" charset="0"/>
              </a:rPr>
            </a:br>
            <a:r>
              <a:rPr lang="pt-BR" sz="1200" dirty="0">
                <a:latin typeface="Delight Regular" pitchFamily="50" charset="0"/>
              </a:rPr>
              <a:t>da automação de retorno do</a:t>
            </a:r>
            <a:br>
              <a:rPr lang="pt-BR" sz="1200" dirty="0">
                <a:latin typeface="Delight Regular" pitchFamily="50" charset="0"/>
              </a:rPr>
            </a:br>
            <a:r>
              <a:rPr lang="pt-BR" sz="1200" dirty="0">
                <a:latin typeface="Delight Regular" pitchFamily="50" charset="0"/>
              </a:rPr>
              <a:t>novo sistema de IA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358A906-990B-85B5-8D8D-216DEACE14D5}"/>
              </a:ext>
            </a:extLst>
          </p:cNvPr>
          <p:cNvSpPr txBox="1"/>
          <p:nvPr/>
        </p:nvSpPr>
        <p:spPr>
          <a:xfrm>
            <a:off x="3243943" y="5246121"/>
            <a:ext cx="28738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Delight Regular" pitchFamily="50" charset="0"/>
              </a:rPr>
              <a:t>De aproveitamento dos leads</a:t>
            </a:r>
            <a:br>
              <a:rPr lang="pt-BR" sz="1200" dirty="0">
                <a:latin typeface="Delight Regular" pitchFamily="50" charset="0"/>
              </a:rPr>
            </a:br>
            <a:r>
              <a:rPr lang="pt-BR" sz="1200" dirty="0">
                <a:latin typeface="Delight Regular" pitchFamily="50" charset="0"/>
              </a:rPr>
              <a:t>qualificados que foram direcionados</a:t>
            </a:r>
            <a:br>
              <a:rPr lang="pt-BR" sz="1200" dirty="0">
                <a:latin typeface="Delight Regular" pitchFamily="50" charset="0"/>
              </a:rPr>
            </a:br>
            <a:r>
              <a:rPr lang="pt-BR" sz="1200" dirty="0">
                <a:latin typeface="Delight Regular" pitchFamily="50" charset="0"/>
              </a:rPr>
              <a:t>para os novos consultores sênior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F983C11-1BB8-D06C-D982-1737AA940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4266" y="987624"/>
            <a:ext cx="3221635" cy="4832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51967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Espaço Reservado para Conteúdo 4" descr="Forma&#10;&#10;O conteúdo gerado por IA pode estar incorreto.">
            <a:extLst>
              <a:ext uri="{FF2B5EF4-FFF2-40B4-BE49-F238E27FC236}">
                <a16:creationId xmlns:a16="http://schemas.microsoft.com/office/drawing/2014/main" id="{7CB52D2F-A011-C333-9E5E-C3428A87DD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196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m 4" descr="Uma imagem contendo Forma">
            <a:extLst>
              <a:ext uri="{FF2B5EF4-FFF2-40B4-BE49-F238E27FC236}">
                <a16:creationId xmlns:a16="http://schemas.microsoft.com/office/drawing/2014/main" id="{57743F5E-232D-120F-D8A7-91361997D0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69905E41-81D5-0FDC-8766-CE1BE1728330}"/>
              </a:ext>
            </a:extLst>
          </p:cNvPr>
          <p:cNvSpPr txBox="1"/>
          <p:nvPr/>
        </p:nvSpPr>
        <p:spPr>
          <a:xfrm>
            <a:off x="9088809" y="6411187"/>
            <a:ext cx="522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Delight Regular" pitchFamily="50" charset="0"/>
              </a:rPr>
              <a:t>07</a:t>
            </a:r>
          </a:p>
        </p:txBody>
      </p:sp>
      <p:pic>
        <p:nvPicPr>
          <p:cNvPr id="14" name="Imagem 13" descr="Forma&#10;&#10;O conteúdo gerado por IA pode estar incorreto.">
            <a:extLst>
              <a:ext uri="{FF2B5EF4-FFF2-40B4-BE49-F238E27FC236}">
                <a16:creationId xmlns:a16="http://schemas.microsoft.com/office/drawing/2014/main" id="{F3E00F39-A178-ABC0-8524-74F43971FA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7676"/>
            <a:ext cx="12223423" cy="6875676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A166EEE-8DCE-385D-16BC-E3CB24943B7F}"/>
              </a:ext>
            </a:extLst>
          </p:cNvPr>
          <p:cNvSpPr txBox="1"/>
          <p:nvPr/>
        </p:nvSpPr>
        <p:spPr>
          <a:xfrm>
            <a:off x="304800" y="555173"/>
            <a:ext cx="358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Delight SemBd" pitchFamily="50" charset="0"/>
              </a:rPr>
              <a:t>Linha do tempo</a:t>
            </a: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9D39C747-E4C0-75A4-7F35-4FD405849B36}"/>
              </a:ext>
            </a:extLst>
          </p:cNvPr>
          <p:cNvCxnSpPr/>
          <p:nvPr/>
        </p:nvCxnSpPr>
        <p:spPr>
          <a:xfrm>
            <a:off x="402771" y="3429000"/>
            <a:ext cx="11397343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CAA8C669-179A-DE6A-A34A-95D383C21FF9}"/>
              </a:ext>
            </a:extLst>
          </p:cNvPr>
          <p:cNvCxnSpPr/>
          <p:nvPr/>
        </p:nvCxnSpPr>
        <p:spPr>
          <a:xfrm flipV="1">
            <a:off x="517071" y="1883229"/>
            <a:ext cx="0" cy="153693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9A3D6FE3-7CD3-A328-0BE0-AD50F0934384}"/>
              </a:ext>
            </a:extLst>
          </p:cNvPr>
          <p:cNvSpPr/>
          <p:nvPr/>
        </p:nvSpPr>
        <p:spPr>
          <a:xfrm>
            <a:off x="391886" y="3303815"/>
            <a:ext cx="250370" cy="25037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0AECEFB-AAF8-AEBE-1DE5-C12DFA8503FF}"/>
              </a:ext>
            </a:extLst>
          </p:cNvPr>
          <p:cNvSpPr txBox="1"/>
          <p:nvPr/>
        </p:nvSpPr>
        <p:spPr>
          <a:xfrm>
            <a:off x="642257" y="2221274"/>
            <a:ext cx="23186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Delight Regular" pitchFamily="50" charset="0"/>
              </a:rPr>
              <a:t>O crescimento encontrado foi diretamente ligado</a:t>
            </a:r>
            <a:br>
              <a:rPr lang="pt-BR" sz="1400" dirty="0">
                <a:solidFill>
                  <a:schemeClr val="bg1"/>
                </a:solidFill>
                <a:latin typeface="Delight Regular" pitchFamily="50" charset="0"/>
              </a:rPr>
            </a:br>
            <a:r>
              <a:rPr lang="pt-BR" sz="1400" dirty="0">
                <a:solidFill>
                  <a:schemeClr val="bg1"/>
                </a:solidFill>
                <a:latin typeface="Delight Regular" pitchFamily="50" charset="0"/>
              </a:rPr>
              <a:t>a contratação do serviço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AB92CC0-D440-47E7-F2D6-846D67FECB26}"/>
              </a:ext>
            </a:extLst>
          </p:cNvPr>
          <p:cNvSpPr txBox="1"/>
          <p:nvPr/>
        </p:nvSpPr>
        <p:spPr>
          <a:xfrm>
            <a:off x="640732" y="1750367"/>
            <a:ext cx="1170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latin typeface="Delight SemBd" pitchFamily="50" charset="0"/>
              </a:rPr>
              <a:t>Março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D29EA90F-5D30-844A-316F-EA039BDA393B}"/>
              </a:ext>
            </a:extLst>
          </p:cNvPr>
          <p:cNvSpPr/>
          <p:nvPr/>
        </p:nvSpPr>
        <p:spPr>
          <a:xfrm>
            <a:off x="3815445" y="3303815"/>
            <a:ext cx="250370" cy="250370"/>
          </a:xfrm>
          <a:prstGeom prst="ellipse">
            <a:avLst/>
          </a:prstGeom>
          <a:solidFill>
            <a:srgbClr val="CAE3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4120F3FA-45D6-B1F4-7799-074BEBF1E48F}"/>
              </a:ext>
            </a:extLst>
          </p:cNvPr>
          <p:cNvCxnSpPr/>
          <p:nvPr/>
        </p:nvCxnSpPr>
        <p:spPr>
          <a:xfrm>
            <a:off x="3940630" y="3429000"/>
            <a:ext cx="0" cy="2394857"/>
          </a:xfrm>
          <a:prstGeom prst="line">
            <a:avLst/>
          </a:prstGeom>
          <a:ln>
            <a:solidFill>
              <a:srgbClr val="CAE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lipse 22">
            <a:extLst>
              <a:ext uri="{FF2B5EF4-FFF2-40B4-BE49-F238E27FC236}">
                <a16:creationId xmlns:a16="http://schemas.microsoft.com/office/drawing/2014/main" id="{CFD772D4-0B5C-34C3-953B-8103554B8A55}"/>
              </a:ext>
            </a:extLst>
          </p:cNvPr>
          <p:cNvSpPr/>
          <p:nvPr/>
        </p:nvSpPr>
        <p:spPr>
          <a:xfrm>
            <a:off x="5986525" y="3303815"/>
            <a:ext cx="250370" cy="25037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D2311961-8071-14FA-6676-D709A0CD17C8}"/>
              </a:ext>
            </a:extLst>
          </p:cNvPr>
          <p:cNvSpPr/>
          <p:nvPr/>
        </p:nvSpPr>
        <p:spPr>
          <a:xfrm>
            <a:off x="9584109" y="3294977"/>
            <a:ext cx="250370" cy="250370"/>
          </a:xfrm>
          <a:prstGeom prst="ellipse">
            <a:avLst/>
          </a:prstGeom>
          <a:solidFill>
            <a:srgbClr val="CAE3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E97942AF-51C5-A870-3966-71494AAC68E0}"/>
              </a:ext>
            </a:extLst>
          </p:cNvPr>
          <p:cNvCxnSpPr/>
          <p:nvPr/>
        </p:nvCxnSpPr>
        <p:spPr>
          <a:xfrm>
            <a:off x="9709294" y="3420162"/>
            <a:ext cx="0" cy="2394857"/>
          </a:xfrm>
          <a:prstGeom prst="line">
            <a:avLst/>
          </a:prstGeom>
          <a:ln>
            <a:solidFill>
              <a:srgbClr val="CAE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7D20BD96-B46E-599A-10FF-31FC9160310F}"/>
              </a:ext>
            </a:extLst>
          </p:cNvPr>
          <p:cNvCxnSpPr/>
          <p:nvPr/>
        </p:nvCxnSpPr>
        <p:spPr>
          <a:xfrm flipV="1">
            <a:off x="6101442" y="1892067"/>
            <a:ext cx="0" cy="153693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1F12DBA0-549F-DB86-171B-654D8397BEBC}"/>
              </a:ext>
            </a:extLst>
          </p:cNvPr>
          <p:cNvSpPr txBox="1"/>
          <p:nvPr/>
        </p:nvSpPr>
        <p:spPr>
          <a:xfrm>
            <a:off x="9767620" y="4075397"/>
            <a:ext cx="222843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Delight Regular" pitchFamily="50" charset="0"/>
              </a:rPr>
              <a:t>Fechamento em superávit de 130%</a:t>
            </a:r>
            <a:br>
              <a:rPr lang="pt-BR" sz="1400" dirty="0">
                <a:solidFill>
                  <a:schemeClr val="bg1"/>
                </a:solidFill>
                <a:latin typeface="Delight Regular" pitchFamily="50" charset="0"/>
              </a:rPr>
            </a:br>
            <a:r>
              <a:rPr lang="pt-BR" sz="1400" dirty="0">
                <a:solidFill>
                  <a:schemeClr val="bg1"/>
                </a:solidFill>
                <a:latin typeface="Delight Regular" pitchFamily="50" charset="0"/>
              </a:rPr>
              <a:t>em comparação a 2024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FBE809A9-DDF1-FF4B-4D12-35BD214FB154}"/>
              </a:ext>
            </a:extLst>
          </p:cNvPr>
          <p:cNvSpPr txBox="1"/>
          <p:nvPr/>
        </p:nvSpPr>
        <p:spPr>
          <a:xfrm>
            <a:off x="9766094" y="3604490"/>
            <a:ext cx="18598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latin typeface="Delight SemBd" pitchFamily="50" charset="0"/>
              </a:rPr>
              <a:t>Dezembro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A3ECF85D-2E82-1677-A6EC-91D5819E98C7}"/>
              </a:ext>
            </a:extLst>
          </p:cNvPr>
          <p:cNvSpPr txBox="1"/>
          <p:nvPr/>
        </p:nvSpPr>
        <p:spPr>
          <a:xfrm>
            <a:off x="4021130" y="4169382"/>
            <a:ext cx="23186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Delight Regular" pitchFamily="50" charset="0"/>
              </a:rPr>
              <a:t>Contratação da nova ferramenta de automação por IA 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010467C4-6E95-6688-44DD-F86EE7D87773}"/>
              </a:ext>
            </a:extLst>
          </p:cNvPr>
          <p:cNvSpPr txBox="1"/>
          <p:nvPr/>
        </p:nvSpPr>
        <p:spPr>
          <a:xfrm>
            <a:off x="4019605" y="3698475"/>
            <a:ext cx="1170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latin typeface="Delight SemBd" pitchFamily="50" charset="0"/>
              </a:rPr>
              <a:t>Julho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B1D137CF-76D0-A89B-4A86-9DBCE9E8887A}"/>
              </a:ext>
            </a:extLst>
          </p:cNvPr>
          <p:cNvSpPr txBox="1"/>
          <p:nvPr/>
        </p:nvSpPr>
        <p:spPr>
          <a:xfrm>
            <a:off x="6286883" y="2221274"/>
            <a:ext cx="23186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Delight Regular" pitchFamily="50" charset="0"/>
              </a:rPr>
              <a:t>Contratação do novo time de </a:t>
            </a:r>
            <a:r>
              <a:rPr lang="pt-BR" sz="1400" dirty="0" err="1">
                <a:solidFill>
                  <a:schemeClr val="bg1"/>
                </a:solidFill>
                <a:latin typeface="Delight Regular" pitchFamily="50" charset="0"/>
              </a:rPr>
              <a:t>consultore</a:t>
            </a:r>
            <a:r>
              <a:rPr lang="pt-BR" sz="1400" dirty="0">
                <a:solidFill>
                  <a:schemeClr val="bg1"/>
                </a:solidFill>
                <a:latin typeface="Delight Regular" pitchFamily="50" charset="0"/>
              </a:rPr>
              <a:t> sênior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377E6681-4E09-D023-06F5-BF5C9F6EAFB7}"/>
              </a:ext>
            </a:extLst>
          </p:cNvPr>
          <p:cNvSpPr txBox="1"/>
          <p:nvPr/>
        </p:nvSpPr>
        <p:spPr>
          <a:xfrm>
            <a:off x="6285357" y="1750367"/>
            <a:ext cx="17047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latin typeface="Delight SemBd" pitchFamily="50" charset="0"/>
              </a:rPr>
              <a:t>Setembro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4A362AE5-3DDB-84F1-AB1D-DD61FD98DE44}"/>
              </a:ext>
            </a:extLst>
          </p:cNvPr>
          <p:cNvSpPr txBox="1"/>
          <p:nvPr/>
        </p:nvSpPr>
        <p:spPr>
          <a:xfrm>
            <a:off x="9104520" y="6428863"/>
            <a:ext cx="522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Delight Regular" pitchFamily="50" charset="0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9608458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0B79E-843A-05E0-FD8F-DCC4501A8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Padrão do plano de fundo">
            <a:extLst>
              <a:ext uri="{FF2B5EF4-FFF2-40B4-BE49-F238E27FC236}">
                <a16:creationId xmlns:a16="http://schemas.microsoft.com/office/drawing/2014/main" id="{595A7A0A-33F8-1733-8D23-840CB855CF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0" y="0"/>
            <a:ext cx="12191980" cy="685671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9855F7A2-384D-C7F8-9158-5AA000801C1B}"/>
              </a:ext>
            </a:extLst>
          </p:cNvPr>
          <p:cNvSpPr txBox="1"/>
          <p:nvPr/>
        </p:nvSpPr>
        <p:spPr>
          <a:xfrm>
            <a:off x="272144" y="326571"/>
            <a:ext cx="34507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>
                <a:solidFill>
                  <a:schemeClr val="bg1"/>
                </a:solidFill>
                <a:latin typeface="Delight SemBd" pitchFamily="50" charset="0"/>
              </a:rPr>
              <a:t>Obrigado!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D484A6D-DCDE-732F-A249-2E60C817D42E}"/>
              </a:ext>
            </a:extLst>
          </p:cNvPr>
          <p:cNvSpPr txBox="1"/>
          <p:nvPr/>
        </p:nvSpPr>
        <p:spPr>
          <a:xfrm>
            <a:off x="8349334" y="391886"/>
            <a:ext cx="34507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latin typeface="Delight SemBd" pitchFamily="50" charset="0"/>
              </a:rPr>
              <a:t>Conduzindo negócios e fortalecendo empresas que liderarão o futuro.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3CAD031-2E00-DD19-24B8-574348FFD7A6}"/>
              </a:ext>
            </a:extLst>
          </p:cNvPr>
          <p:cNvSpPr txBox="1"/>
          <p:nvPr/>
        </p:nvSpPr>
        <p:spPr>
          <a:xfrm>
            <a:off x="8349334" y="3840363"/>
            <a:ext cx="345076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pt-BR" sz="1400" dirty="0">
                <a:solidFill>
                  <a:schemeClr val="bg1"/>
                </a:solidFill>
                <a:latin typeface="Delight Light" pitchFamily="50" charset="0"/>
              </a:rPr>
              <a:t>Rua do Rosário, 103 - 12° Andar</a:t>
            </a:r>
            <a:br>
              <a:rPr lang="pt-BR" sz="1400" dirty="0">
                <a:solidFill>
                  <a:schemeClr val="bg1"/>
                </a:solidFill>
                <a:latin typeface="Delight Light" pitchFamily="50" charset="0"/>
              </a:rPr>
            </a:br>
            <a:r>
              <a:rPr lang="pt-BR" sz="1400" dirty="0">
                <a:solidFill>
                  <a:schemeClr val="bg1"/>
                </a:solidFill>
                <a:latin typeface="Delight Light" pitchFamily="50" charset="0"/>
              </a:rPr>
              <a:t>Centro, Rio de Janeiro - RJ, </a:t>
            </a:r>
            <a:br>
              <a:rPr lang="pt-BR" sz="1400" dirty="0">
                <a:solidFill>
                  <a:schemeClr val="bg1"/>
                </a:solidFill>
                <a:latin typeface="Delight Light" pitchFamily="50" charset="0"/>
              </a:rPr>
            </a:br>
            <a:r>
              <a:rPr lang="pt-BR" sz="1400" dirty="0">
                <a:solidFill>
                  <a:schemeClr val="bg1"/>
                </a:solidFill>
                <a:latin typeface="Delight Light" pitchFamily="50" charset="0"/>
              </a:rPr>
              <a:t>20041-004</a:t>
            </a:r>
            <a:br>
              <a:rPr lang="pt-BR" sz="1400" dirty="0">
                <a:solidFill>
                  <a:schemeClr val="bg1"/>
                </a:solidFill>
                <a:latin typeface="Delight Light" pitchFamily="50" charset="0"/>
              </a:rPr>
            </a:br>
            <a:br>
              <a:rPr lang="pt-BR" sz="1400" dirty="0">
                <a:solidFill>
                  <a:schemeClr val="bg1"/>
                </a:solidFill>
                <a:latin typeface="Delight Light" pitchFamily="50" charset="0"/>
              </a:rPr>
            </a:br>
            <a:r>
              <a:rPr lang="nb-NO" sz="1400" u="sng" dirty="0">
                <a:solidFill>
                  <a:schemeClr val="bg1"/>
                </a:solidFill>
                <a:latin typeface="Delight Light" pitchFamily="50" charset="0"/>
              </a:rPr>
              <a:t>Telefone: (21) 2233-0977</a:t>
            </a:r>
            <a:br>
              <a:rPr lang="nb-NO" sz="1400" dirty="0">
                <a:solidFill>
                  <a:schemeClr val="bg1"/>
                </a:solidFill>
                <a:latin typeface="Delight Light" pitchFamily="50" charset="0"/>
              </a:rPr>
            </a:br>
            <a:r>
              <a:rPr lang="nb-NO" sz="1400" u="sng" dirty="0">
                <a:solidFill>
                  <a:schemeClr val="bg1"/>
                </a:solidFill>
                <a:latin typeface="Delight Light" pitchFamily="50" charset="0"/>
              </a:rPr>
              <a:t>Whatsapp: (21) 9 9439-1156</a:t>
            </a:r>
            <a:br>
              <a:rPr lang="nb-NO" sz="1400" u="sng" dirty="0">
                <a:solidFill>
                  <a:schemeClr val="bg1"/>
                </a:solidFill>
                <a:latin typeface="Delight Light" pitchFamily="50" charset="0"/>
              </a:rPr>
            </a:br>
            <a:br>
              <a:rPr lang="nb-NO" sz="1400" u="sng" dirty="0">
                <a:solidFill>
                  <a:schemeClr val="bg1"/>
                </a:solidFill>
                <a:latin typeface="Delight Light" pitchFamily="50" charset="0"/>
              </a:rPr>
            </a:br>
            <a:r>
              <a:rPr lang="nb-NO" sz="1400" u="sng" dirty="0">
                <a:solidFill>
                  <a:schemeClr val="bg1"/>
                </a:solidFill>
                <a:latin typeface="Delight Light" pitchFamily="50" charset="0"/>
              </a:rPr>
              <a:t>contato@grupocriterio.com.br</a:t>
            </a:r>
            <a:endParaRPr lang="nb-NO" sz="1400" dirty="0">
              <a:solidFill>
                <a:schemeClr val="bg1"/>
              </a:solidFill>
              <a:latin typeface="Delight Light" pitchFamily="50" charset="0"/>
            </a:endParaRPr>
          </a:p>
          <a:p>
            <a:pPr fontAlgn="base"/>
            <a:endParaRPr lang="pt-BR" sz="1400" dirty="0">
              <a:solidFill>
                <a:schemeClr val="bg1"/>
              </a:solidFill>
              <a:latin typeface="Delight Light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3366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176A6-4DA0-F402-351A-807CF15EF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ço Reservado para Conteúdo 4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CDCF8D26-4305-E1F2-5C99-D26DDC5D05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6B6D7FC2-1A41-4608-6BED-CBA4265B3F16}"/>
              </a:ext>
            </a:extLst>
          </p:cNvPr>
          <p:cNvSpPr txBox="1"/>
          <p:nvPr/>
        </p:nvSpPr>
        <p:spPr>
          <a:xfrm>
            <a:off x="272144" y="326571"/>
            <a:ext cx="34507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>
                <a:solidFill>
                  <a:schemeClr val="bg1"/>
                </a:solidFill>
                <a:latin typeface="Delight SemBd" pitchFamily="50" charset="0"/>
              </a:rPr>
              <a:t>Obrigado!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B67E61B-C932-2882-C498-593AAFD3D23B}"/>
              </a:ext>
            </a:extLst>
          </p:cNvPr>
          <p:cNvSpPr txBox="1"/>
          <p:nvPr/>
        </p:nvSpPr>
        <p:spPr>
          <a:xfrm>
            <a:off x="8349334" y="391886"/>
            <a:ext cx="34507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latin typeface="Delight SemBd" pitchFamily="50" charset="0"/>
              </a:rPr>
              <a:t>Conduzindo negócios e fortalecendo empresas que liderarão o futuro.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76ECBD6-AC8D-28F9-39A8-DA944EA90439}"/>
              </a:ext>
            </a:extLst>
          </p:cNvPr>
          <p:cNvSpPr txBox="1"/>
          <p:nvPr/>
        </p:nvSpPr>
        <p:spPr>
          <a:xfrm>
            <a:off x="8349334" y="3840363"/>
            <a:ext cx="345076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pt-BR" sz="1400" dirty="0">
                <a:solidFill>
                  <a:schemeClr val="bg1"/>
                </a:solidFill>
                <a:latin typeface="Delight Light" pitchFamily="50" charset="0"/>
              </a:rPr>
              <a:t>Rua do Rosário, 103 - 12° Andar</a:t>
            </a:r>
            <a:br>
              <a:rPr lang="pt-BR" sz="1400" dirty="0">
                <a:solidFill>
                  <a:schemeClr val="bg1"/>
                </a:solidFill>
                <a:latin typeface="Delight Light" pitchFamily="50" charset="0"/>
              </a:rPr>
            </a:br>
            <a:r>
              <a:rPr lang="pt-BR" sz="1400" dirty="0">
                <a:solidFill>
                  <a:schemeClr val="bg1"/>
                </a:solidFill>
                <a:latin typeface="Delight Light" pitchFamily="50" charset="0"/>
              </a:rPr>
              <a:t>Centro, Rio de Janeiro - RJ, </a:t>
            </a:r>
            <a:br>
              <a:rPr lang="pt-BR" sz="1400" dirty="0">
                <a:solidFill>
                  <a:schemeClr val="bg1"/>
                </a:solidFill>
                <a:latin typeface="Delight Light" pitchFamily="50" charset="0"/>
              </a:rPr>
            </a:br>
            <a:r>
              <a:rPr lang="pt-BR" sz="1400" dirty="0">
                <a:solidFill>
                  <a:schemeClr val="bg1"/>
                </a:solidFill>
                <a:latin typeface="Delight Light" pitchFamily="50" charset="0"/>
              </a:rPr>
              <a:t>20041-004</a:t>
            </a:r>
            <a:br>
              <a:rPr lang="pt-BR" sz="1400" dirty="0">
                <a:solidFill>
                  <a:schemeClr val="bg1"/>
                </a:solidFill>
                <a:latin typeface="Delight Light" pitchFamily="50" charset="0"/>
              </a:rPr>
            </a:br>
            <a:br>
              <a:rPr lang="pt-BR" sz="1400" dirty="0">
                <a:solidFill>
                  <a:schemeClr val="bg1"/>
                </a:solidFill>
                <a:latin typeface="Delight Light" pitchFamily="50" charset="0"/>
              </a:rPr>
            </a:br>
            <a:r>
              <a:rPr lang="nb-NO" sz="1400" u="sng" dirty="0">
                <a:solidFill>
                  <a:schemeClr val="bg1"/>
                </a:solidFill>
                <a:latin typeface="Delight Light" pitchFamily="50" charset="0"/>
              </a:rPr>
              <a:t>Telefone: (21) 2233-0977</a:t>
            </a:r>
            <a:br>
              <a:rPr lang="nb-NO" sz="1400" dirty="0">
                <a:solidFill>
                  <a:schemeClr val="bg1"/>
                </a:solidFill>
                <a:latin typeface="Delight Light" pitchFamily="50" charset="0"/>
              </a:rPr>
            </a:br>
            <a:r>
              <a:rPr lang="nb-NO" sz="1400" u="sng" dirty="0">
                <a:solidFill>
                  <a:schemeClr val="bg1"/>
                </a:solidFill>
                <a:latin typeface="Delight Light" pitchFamily="50" charset="0"/>
              </a:rPr>
              <a:t>Whatsapp: (21) 9 9439-1156</a:t>
            </a:r>
            <a:br>
              <a:rPr lang="nb-NO" sz="1400" u="sng" dirty="0">
                <a:solidFill>
                  <a:schemeClr val="bg1"/>
                </a:solidFill>
                <a:latin typeface="Delight Light" pitchFamily="50" charset="0"/>
              </a:rPr>
            </a:br>
            <a:br>
              <a:rPr lang="nb-NO" sz="1400" u="sng" dirty="0">
                <a:solidFill>
                  <a:schemeClr val="bg1"/>
                </a:solidFill>
                <a:latin typeface="Delight Light" pitchFamily="50" charset="0"/>
              </a:rPr>
            </a:br>
            <a:r>
              <a:rPr lang="nb-NO" sz="1400" u="sng" dirty="0">
                <a:solidFill>
                  <a:schemeClr val="bg1"/>
                </a:solidFill>
                <a:latin typeface="Delight Light" pitchFamily="50" charset="0"/>
              </a:rPr>
              <a:t>contato@grupocriterio.com.br</a:t>
            </a:r>
            <a:endParaRPr lang="nb-NO" sz="1400" dirty="0">
              <a:solidFill>
                <a:schemeClr val="bg1"/>
              </a:solidFill>
              <a:latin typeface="Delight Light" pitchFamily="50" charset="0"/>
            </a:endParaRPr>
          </a:p>
          <a:p>
            <a:pPr fontAlgn="base"/>
            <a:endParaRPr lang="pt-BR" sz="1400" dirty="0">
              <a:solidFill>
                <a:schemeClr val="bg1"/>
              </a:solidFill>
              <a:latin typeface="Delight Light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1000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7A938-DD7F-4911-33A6-4717305E5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A6F8552F-07C0-DF2C-EFA5-2ED2EE9176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37D7B4E-303D-9B08-776C-92346B7F9E4B}"/>
              </a:ext>
            </a:extLst>
          </p:cNvPr>
          <p:cNvSpPr txBox="1"/>
          <p:nvPr/>
        </p:nvSpPr>
        <p:spPr>
          <a:xfrm>
            <a:off x="272144" y="326571"/>
            <a:ext cx="34507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>
                <a:solidFill>
                  <a:schemeClr val="bg1"/>
                </a:solidFill>
                <a:latin typeface="Delight SemBd" pitchFamily="50" charset="0"/>
              </a:rPr>
              <a:t>Obrigado!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7E0774A-7512-94F6-1359-6A9AB49555C2}"/>
              </a:ext>
            </a:extLst>
          </p:cNvPr>
          <p:cNvSpPr txBox="1"/>
          <p:nvPr/>
        </p:nvSpPr>
        <p:spPr>
          <a:xfrm>
            <a:off x="8349334" y="391886"/>
            <a:ext cx="34507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latin typeface="Delight SemBd" pitchFamily="50" charset="0"/>
              </a:rPr>
              <a:t>Conduzindo negócios e fortalecendo empresas que liderarão o futuro.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57352C0-A5EB-02B6-EDD8-622AFB121662}"/>
              </a:ext>
            </a:extLst>
          </p:cNvPr>
          <p:cNvSpPr txBox="1"/>
          <p:nvPr/>
        </p:nvSpPr>
        <p:spPr>
          <a:xfrm>
            <a:off x="8349334" y="3840363"/>
            <a:ext cx="345076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pt-BR" sz="1400" dirty="0">
                <a:solidFill>
                  <a:schemeClr val="bg1"/>
                </a:solidFill>
                <a:latin typeface="Delight Light" pitchFamily="50" charset="0"/>
              </a:rPr>
              <a:t>Rua do Rosário, 103 - 12° Andar</a:t>
            </a:r>
            <a:br>
              <a:rPr lang="pt-BR" sz="1400" dirty="0">
                <a:solidFill>
                  <a:schemeClr val="bg1"/>
                </a:solidFill>
                <a:latin typeface="Delight Light" pitchFamily="50" charset="0"/>
              </a:rPr>
            </a:br>
            <a:r>
              <a:rPr lang="pt-BR" sz="1400" dirty="0">
                <a:solidFill>
                  <a:schemeClr val="bg1"/>
                </a:solidFill>
                <a:latin typeface="Delight Light" pitchFamily="50" charset="0"/>
              </a:rPr>
              <a:t>Centro, Rio de Janeiro - RJ, </a:t>
            </a:r>
            <a:br>
              <a:rPr lang="pt-BR" sz="1400" dirty="0">
                <a:solidFill>
                  <a:schemeClr val="bg1"/>
                </a:solidFill>
                <a:latin typeface="Delight Light" pitchFamily="50" charset="0"/>
              </a:rPr>
            </a:br>
            <a:r>
              <a:rPr lang="pt-BR" sz="1400" dirty="0">
                <a:solidFill>
                  <a:schemeClr val="bg1"/>
                </a:solidFill>
                <a:latin typeface="Delight Light" pitchFamily="50" charset="0"/>
              </a:rPr>
              <a:t>20041-004</a:t>
            </a:r>
            <a:br>
              <a:rPr lang="pt-BR" sz="1400" dirty="0">
                <a:solidFill>
                  <a:schemeClr val="bg1"/>
                </a:solidFill>
                <a:latin typeface="Delight Light" pitchFamily="50" charset="0"/>
              </a:rPr>
            </a:br>
            <a:br>
              <a:rPr lang="pt-BR" sz="1400" dirty="0">
                <a:solidFill>
                  <a:schemeClr val="bg1"/>
                </a:solidFill>
                <a:latin typeface="Delight Light" pitchFamily="50" charset="0"/>
              </a:rPr>
            </a:br>
            <a:r>
              <a:rPr lang="nb-NO" sz="1400" u="sng" dirty="0">
                <a:solidFill>
                  <a:schemeClr val="bg1"/>
                </a:solidFill>
                <a:latin typeface="Delight Light" pitchFamily="50" charset="0"/>
              </a:rPr>
              <a:t>Telefone: (21) 2233-0977</a:t>
            </a:r>
            <a:br>
              <a:rPr lang="nb-NO" sz="1400" dirty="0">
                <a:solidFill>
                  <a:schemeClr val="bg1"/>
                </a:solidFill>
                <a:latin typeface="Delight Light" pitchFamily="50" charset="0"/>
              </a:rPr>
            </a:br>
            <a:r>
              <a:rPr lang="nb-NO" sz="1400" u="sng" dirty="0">
                <a:solidFill>
                  <a:schemeClr val="bg1"/>
                </a:solidFill>
                <a:latin typeface="Delight Light" pitchFamily="50" charset="0"/>
              </a:rPr>
              <a:t>Whatsapp: (21) 9 9439-1156</a:t>
            </a:r>
            <a:br>
              <a:rPr lang="nb-NO" sz="1400" u="sng" dirty="0">
                <a:solidFill>
                  <a:schemeClr val="bg1"/>
                </a:solidFill>
                <a:latin typeface="Delight Light" pitchFamily="50" charset="0"/>
              </a:rPr>
            </a:br>
            <a:br>
              <a:rPr lang="nb-NO" sz="1400" u="sng" dirty="0">
                <a:solidFill>
                  <a:schemeClr val="bg1"/>
                </a:solidFill>
                <a:latin typeface="Delight Light" pitchFamily="50" charset="0"/>
              </a:rPr>
            </a:br>
            <a:r>
              <a:rPr lang="nb-NO" sz="1400" u="sng" dirty="0">
                <a:solidFill>
                  <a:schemeClr val="bg1"/>
                </a:solidFill>
                <a:latin typeface="Delight Light" pitchFamily="50" charset="0"/>
              </a:rPr>
              <a:t>contato@grupocriterio.com.br</a:t>
            </a:r>
            <a:endParaRPr lang="nb-NO" sz="1400" dirty="0">
              <a:solidFill>
                <a:schemeClr val="bg1"/>
              </a:solidFill>
              <a:latin typeface="Delight Light" pitchFamily="50" charset="0"/>
            </a:endParaRPr>
          </a:p>
          <a:p>
            <a:pPr fontAlgn="base"/>
            <a:endParaRPr lang="pt-BR" sz="1400" dirty="0">
              <a:solidFill>
                <a:schemeClr val="bg1"/>
              </a:solidFill>
              <a:latin typeface="Delight Light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9140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31B50-CA4F-28D4-7669-620DECC37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Uma imagem contendo Texto&#10;&#10;O conteúdo gerado por IA pode estar incorreto.">
            <a:extLst>
              <a:ext uri="{FF2B5EF4-FFF2-40B4-BE49-F238E27FC236}">
                <a16:creationId xmlns:a16="http://schemas.microsoft.com/office/drawing/2014/main" id="{2D080733-E937-FE74-BDD0-C33BF34904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E058494-7A4E-B28E-7AB1-E8FEA83209C2}"/>
              </a:ext>
            </a:extLst>
          </p:cNvPr>
          <p:cNvSpPr txBox="1"/>
          <p:nvPr/>
        </p:nvSpPr>
        <p:spPr>
          <a:xfrm>
            <a:off x="272144" y="326571"/>
            <a:ext cx="34507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>
                <a:solidFill>
                  <a:schemeClr val="bg1"/>
                </a:solidFill>
                <a:latin typeface="Delight SemBd" pitchFamily="50" charset="0"/>
              </a:rPr>
              <a:t>Obrigado!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B435603-0BBF-196C-643F-877FEC28B52C}"/>
              </a:ext>
            </a:extLst>
          </p:cNvPr>
          <p:cNvSpPr txBox="1"/>
          <p:nvPr/>
        </p:nvSpPr>
        <p:spPr>
          <a:xfrm>
            <a:off x="8349334" y="391886"/>
            <a:ext cx="34507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latin typeface="Delight SemBd" pitchFamily="50" charset="0"/>
              </a:rPr>
              <a:t>Conduzindo negócios e fortalecendo empresas que liderarão o futuro.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4590DBA-A9A9-15D1-3EB8-4D192E66EB56}"/>
              </a:ext>
            </a:extLst>
          </p:cNvPr>
          <p:cNvSpPr txBox="1"/>
          <p:nvPr/>
        </p:nvSpPr>
        <p:spPr>
          <a:xfrm>
            <a:off x="8349334" y="3840363"/>
            <a:ext cx="345076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pt-BR" sz="1400" dirty="0">
                <a:solidFill>
                  <a:schemeClr val="bg1"/>
                </a:solidFill>
                <a:latin typeface="Delight Light" pitchFamily="50" charset="0"/>
              </a:rPr>
              <a:t>Rua do Rosário, 103 - 12° Andar</a:t>
            </a:r>
            <a:br>
              <a:rPr lang="pt-BR" sz="1400" dirty="0">
                <a:solidFill>
                  <a:schemeClr val="bg1"/>
                </a:solidFill>
                <a:latin typeface="Delight Light" pitchFamily="50" charset="0"/>
              </a:rPr>
            </a:br>
            <a:r>
              <a:rPr lang="pt-BR" sz="1400" dirty="0">
                <a:solidFill>
                  <a:schemeClr val="bg1"/>
                </a:solidFill>
                <a:latin typeface="Delight Light" pitchFamily="50" charset="0"/>
              </a:rPr>
              <a:t>Centro, Rio de Janeiro - RJ, </a:t>
            </a:r>
            <a:br>
              <a:rPr lang="pt-BR" sz="1400" dirty="0">
                <a:solidFill>
                  <a:schemeClr val="bg1"/>
                </a:solidFill>
                <a:latin typeface="Delight Light" pitchFamily="50" charset="0"/>
              </a:rPr>
            </a:br>
            <a:r>
              <a:rPr lang="pt-BR" sz="1400" dirty="0">
                <a:solidFill>
                  <a:schemeClr val="bg1"/>
                </a:solidFill>
                <a:latin typeface="Delight Light" pitchFamily="50" charset="0"/>
              </a:rPr>
              <a:t>20041-004</a:t>
            </a:r>
            <a:br>
              <a:rPr lang="pt-BR" sz="1400" dirty="0">
                <a:solidFill>
                  <a:schemeClr val="bg1"/>
                </a:solidFill>
                <a:latin typeface="Delight Light" pitchFamily="50" charset="0"/>
              </a:rPr>
            </a:br>
            <a:br>
              <a:rPr lang="pt-BR" sz="1400" dirty="0">
                <a:solidFill>
                  <a:schemeClr val="bg1"/>
                </a:solidFill>
                <a:latin typeface="Delight Light" pitchFamily="50" charset="0"/>
              </a:rPr>
            </a:br>
            <a:r>
              <a:rPr lang="nb-NO" sz="1400" u="sng" dirty="0">
                <a:solidFill>
                  <a:schemeClr val="bg1"/>
                </a:solidFill>
                <a:latin typeface="Delight Light" pitchFamily="50" charset="0"/>
              </a:rPr>
              <a:t>Telefone: (21) 2233-0977</a:t>
            </a:r>
            <a:br>
              <a:rPr lang="nb-NO" sz="1400" dirty="0">
                <a:solidFill>
                  <a:schemeClr val="bg1"/>
                </a:solidFill>
                <a:latin typeface="Delight Light" pitchFamily="50" charset="0"/>
              </a:rPr>
            </a:br>
            <a:r>
              <a:rPr lang="nb-NO" sz="1400" u="sng" dirty="0">
                <a:solidFill>
                  <a:schemeClr val="bg1"/>
                </a:solidFill>
                <a:latin typeface="Delight Light" pitchFamily="50" charset="0"/>
              </a:rPr>
              <a:t>Whatsapp: (21) 9 9439-1156</a:t>
            </a:r>
            <a:br>
              <a:rPr lang="nb-NO" sz="1400" u="sng" dirty="0">
                <a:solidFill>
                  <a:schemeClr val="bg1"/>
                </a:solidFill>
                <a:latin typeface="Delight Light" pitchFamily="50" charset="0"/>
              </a:rPr>
            </a:br>
            <a:br>
              <a:rPr lang="nb-NO" sz="1400" u="sng" dirty="0">
                <a:solidFill>
                  <a:schemeClr val="bg1"/>
                </a:solidFill>
                <a:latin typeface="Delight Light" pitchFamily="50" charset="0"/>
              </a:rPr>
            </a:br>
            <a:r>
              <a:rPr lang="nb-NO" sz="1400" u="sng" dirty="0">
                <a:solidFill>
                  <a:schemeClr val="bg1"/>
                </a:solidFill>
                <a:latin typeface="Delight Light" pitchFamily="50" charset="0"/>
              </a:rPr>
              <a:t>contato@grupocriterio.com.br</a:t>
            </a:r>
            <a:endParaRPr lang="nb-NO" sz="1400" dirty="0">
              <a:solidFill>
                <a:schemeClr val="bg1"/>
              </a:solidFill>
              <a:latin typeface="Delight Light" pitchFamily="50" charset="0"/>
            </a:endParaRPr>
          </a:p>
          <a:p>
            <a:pPr fontAlgn="base"/>
            <a:endParaRPr lang="pt-BR" sz="1400" dirty="0">
              <a:solidFill>
                <a:schemeClr val="bg1"/>
              </a:solidFill>
              <a:latin typeface="Delight Light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0594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1320</TotalTime>
  <Words>430</Words>
  <Application>Microsoft Macintosh PowerPoint</Application>
  <PresentationFormat>Widescreen</PresentationFormat>
  <Paragraphs>51</Paragraphs>
  <Slides>25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2" baseType="lpstr">
      <vt:lpstr>Aptos</vt:lpstr>
      <vt:lpstr>Aptos Display</vt:lpstr>
      <vt:lpstr>Arial</vt:lpstr>
      <vt:lpstr>Delight Light</vt:lpstr>
      <vt:lpstr>Delight Regular</vt:lpstr>
      <vt:lpstr>Delight SemBd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Rodolfo Alves</dc:creator>
  <cp:lastModifiedBy>Eduardo Luiz S. Silva</cp:lastModifiedBy>
  <cp:revision>4</cp:revision>
  <dcterms:created xsi:type="dcterms:W3CDTF">2025-07-06T16:25:35Z</dcterms:created>
  <dcterms:modified xsi:type="dcterms:W3CDTF">2026-06-05T12:54:10Z</dcterms:modified>
</cp:coreProperties>
</file>